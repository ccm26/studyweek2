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77240"/>
            <a:ext cx="1051560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第二周：目标检测算法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105156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BDD7EE"/>
                </a:solidFill>
                <a:latin typeface="微软雅黑"/>
                <a:ea typeface="微软雅黑"/>
                <a:cs typeface="微软雅黑"/>
              </a:rPr>
              <a:t>上周重构回顾 + 本周学习与调研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5156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重构：单体 trainer → 5 个独立模块 + 10 个黄金测试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5156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调研：Faster R-CNN / YOLOv5·v8·v10·v11 / RT-DETR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5156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汇报人：___________          日期：2026-10-23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汇报大纲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972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一、上周重构（约 5 分钟）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重构前后对比：职责、重复代码、测试、仓库卫生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重构是怎么做的：AI 提意见 · 我手写代码 · AI 写测试验收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拆出来的模块与遗留问题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二、第二周学习与调研（约 15 分钟）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三条技术路线：多阶段 / 单阶段 / 端到端 Transformer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架构演进：Faster R-CNN → YOLOv5 → YOLOv8 → YOLOv10/v11 → RT-DETR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核心组件：正负样本匹配 / 边界框损失 / 后处理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4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训练技巧：Mosaic、MixUp、Copy-Paste、EMA、余弦退火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6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三、小结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上周重构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重构前后对比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把一个 434 行的单体 trainer 拆成 5 个独立模块 + 四层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27632"/>
          <a:ext cx="1120139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160"/>
                <a:gridCol w="5828370"/>
                <a:gridCol w="3824868"/>
              </a:tblGrid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重构前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重构后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一个类同时管设备解析、模型构建、优化器、数据加载、
训练 / 验证 / 测试循环、指标统计、曲线绘制、参数量统计、延迟测量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只负责编排；
具体能力下沉到独立模块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重复代码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DataLoader 构造 3 份；
train / validate / test 的循环体 3 份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各收敛为 1 份：
_build_split / _run_epoch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自动化测试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个黄金测试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仓库卫生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 .gitignore；3 个 .pyc 被 git 跟踪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已补 .gitignore；.pyc 清理完毕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97880"/>
            <a:ext cx="1106424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重构的难点不是「拆」，而是「拆完之后行为不能变」—— 下一页面说明怎么保证这一点。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重构是怎么做的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AI 提修改意见 · 我自己手写代码 · AI 写测试验收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874519"/>
            <a:ext cx="3200400" cy="1965960"/>
          </a:xfrm>
          <a:prstGeom prst="roundRect">
            <a:avLst/>
          </a:prstGeom>
          <a:solidFill>
            <a:srgbClr val="F2F6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28803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① AI 提修改意见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8803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指出重复代码、职责边界与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可以抽取的接口。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只给意见，不产出代码。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874519"/>
            <a:ext cx="3200400" cy="1965960"/>
          </a:xfrm>
          <a:prstGeom prst="roundRect">
            <a:avLst/>
          </a:prstGeom>
          <a:solidFill>
            <a:srgbClr val="F2F6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8803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② 我手写代码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803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所有改动由我逐行手写，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不采用 AI 生成的实现。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这样每一行都能讲清楚。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874519"/>
            <a:ext cx="3200400" cy="1965960"/>
          </a:xfrm>
          <a:prstGeom prst="roundRect">
            <a:avLst/>
          </a:prstGeom>
          <a:solidFill>
            <a:srgbClr val="F2F6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288036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③ AI 写测试验收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28803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把重构前后的「行为不变」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写成可执行的断言：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参数量指纹、预处理输出、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同 seed 可复现。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2651760"/>
            <a:ext cx="329184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2651760"/>
            <a:ext cx="329184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45720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为什么要这么分工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17720"/>
            <a:ext cx="1106424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重构最大的风险是「改坏了却没人发现」。所以验收标准必须先于代码存在 ——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先把参数量指纹、预处理输出、同 seed 可复现这些不变量写成测试，再去动代码；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每改一处就跑一遍，失败即回退。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结果：10 个测试全部通过；train.py 从 20,518 B 降到 19,130 B，重复逻辑各收敛为一份。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拆出来的模块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每个模块只解决一个问题，对外只暴露少量函数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397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/>
                <a:gridCol w="4667250"/>
                <a:gridCol w="4853940"/>
              </a:tblGrid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对外接口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seeding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set_seed(seed)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 / numpy / torch / torch.cuda 四处种子一次性固定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device_utils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resolve_device(name)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cpu / cuda / dml 的分支判断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checkpoint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save_checkpoint / load_checkpoint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权重命名规则与加载参数集中到一处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profiling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get_model_macs_and_parameters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MACs 与参数量统计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plotting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save_curve(path, title, ylabel, series)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曲线绘制与曲线数据合法性校验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datasets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build_eval_transform /
build_label_to_index_map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预处理与标签映射，训练与推理共用同一套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models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available_models / get_model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模型注册与构建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687568"/>
            <a:ext cx="110642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train.py 现在只做编排：三处 DataLoader 构造合并为 _build_split，训练 / 验证 / 测试的循环体合并为 _run_epoch。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099048"/>
            <a:ext cx="1106424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遗留：class trainer 命名（PEP8 要求 CapWords）、三个模块仍缺 docstring、「每行注释」尚未补齐。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0604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9DC3E6"/>
                </a:solidFill>
                <a:latin typeface="微软雅黑"/>
                <a:ea typeface="微软雅黑"/>
                <a:cs typeface="微软雅黑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0584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第二周：目标检测算法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目标检测的三条技术路线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多阶段 / 单阶段 / 端到端 Transformer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5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746"/>
                <a:gridCol w="2344303"/>
                <a:gridCol w="4382828"/>
                <a:gridCol w="2650082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路线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核心思路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主要代价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多阶段
two-stage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Faster R-CNN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先用 RPN 出候选框，
再对每个 RoI 分类回归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两阶段串行，
速度慢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单阶段
one-stage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YOLOv5 / v8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在特征图上密集预测，
一次前向直接出结果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正负样本极不平衡，
依赖匹配策略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
Transformer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RT-DETR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用一组查询直接出框，
不需要 NMS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训练收敛慢、
算力需求高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983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本周调研的主线：Faster R-CNN → YOLOv5 → YOLOv8 → YOLOv10 / v11 → RT-DETR，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看的是「如何从两阶段走向单阶段、又如何从依赖 NMS 走向端到端」。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Faster R-CNN：骨干 + RPN +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经典多阶段范式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7589520" cy="4846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骨干网络</a:t>
            </a:r>
          </a:p>
          <a:p>
            <a:pPr lvl="1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用于特征提取，产生 (B, C, H, W) 的特征图，作为 RPN 与 RoI 的输入。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RPN：目标是得到候选框的坐标</a:t>
            </a:r>
          </a:p>
          <a:p>
            <a:pPr lvl="1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预设 A 个锚框；分类分支与回归分支在特征图上各做 1×1 卷积，分别得到 (B, AHW, 2) 的
背景/物体分类得分，和 (B, AHW, 4) 的锚框 dx, dy, dw, dh 偏移量。</a:t>
            </a:r>
          </a:p>
          <a:p>
            <a:pPr lvl="1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每张特征图内解码出 AHW 个框 → 裁剪边界外的框 → 过滤小于阈值的框 → 按前景得分排序
排掉得分低的 → NMS（不分类别）→ 取前几个 (R, 4)（R 为 batch 索引，4 是绝对坐标）。</a:t>
            </a:r>
          </a:p>
          <a:p>
            <a:pPr>
              <a:lnSpc>
                <a:spcPct val="116000"/>
              </a:lnSpc>
              <a:spcAft>
                <a:spcPts val="400"/>
              </a:spcAft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RoI Pooling / Align：目标是由共享特征图与 RPN 的建议得到分类结果</a:t>
            </a:r>
          </a:p>
          <a:p>
            <a:pPr lvl="1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由 (R, 4) 把原始图片坐标投影到特征图坐标，在坐标范围内划分 (7, 7) 的 bin，
每块做 max / avg pooling，得到 (B, R, C, 7, 7) 的固定尺寸特征图，接全连接层，
输出分类结果与每个 box 的偏移量。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240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补充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487168"/>
            <a:ext cx="329184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RoI Align 与 RoI Pooling 的差别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063240"/>
            <a:ext cx="329184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RoI Pooling 在「原图→特征图」和「bin 划分」两处都做了坐标取整；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RoI Align 不做量化，改用双线性插值在浮点坐标处采样。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两次取整带来的错位对小目标尤其明显。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YOLOv5：骨干 + 颈部 + 耦合检测头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单阶段高效预测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yolov5架构图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667" y="1462125"/>
            <a:ext cx="4160520" cy="18306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517904"/>
            <a:ext cx="67208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骨干网络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CBS = Conv2d + BatchNorm2d + SiLU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C3：通道分 2 组，各自 1×1 卷积控制通道数；一组经过 n 个瓶颈块，
另一组直接到通道拼接；最后 1×1 卷积控制通道数。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SPPF：目标为多尺度特征融合。先 1×1 卷积降通道，再通过 3 个串行的 5×5 maxpooling，
把 3 层输出与第一层 pooling 的输入一起按通道拼接，最后过 CBS 融合。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颈部网络（FPN + PAN）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骨干输出 P3 / P4 / P5 三个不同大小的特征图。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FPN：P5 → P4 → P3 依次上采样、通道拼接、C3 融合，输出 F4、F3。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PAN：F3 → F4 → F5 依次下采样（步长 2 的 CBS）、通道拼接、C3 融合，输出 N4、N5。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F3 / N4 / N5 分别对应小 / 中 / 大目标检测头。</a:t>
            </a:r>
          </a:p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检测头</a:t>
            </a:r>
          </a:p>
          <a:p>
            <a:pPr lvl="1">
              <a:lnSpc>
                <a:spcPct val="116000"/>
              </a:lnSpc>
              <a:spcAft>
                <a:spcPts val="200"/>
              </a:spcAft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耦合头：每个位置输出 3 个锚框 ×（4 个锚框漂移参数 + 1 个存在目标的置信度 + numclass）。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YOLOv8：C2f + 解耦头 + DFL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相对 YOLOv5 的三处主要变化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5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174"/>
                <a:gridCol w="3824740"/>
                <a:gridCol w="5646045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YOLOv5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YOLOv8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骨干模块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C3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C2f 取代 C3：每个 bottleneck 的特征都参与拼接，
而不是只用最后一个 bottleneck 的特征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耦合头（分类与回归共用一个分支）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分类与回归解耦成两个分支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框回归方式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直接回归偏移量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DFL：预测框边界落在各分布区间的概率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4937760"/>
            <a:ext cx="110642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一句话概括演进方向：把「一个头同时管分类和回归」拆开，把「回归一个数」改成「回归一个分布」，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让定位分支能表达不确定性。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YOLOv10 / YOLOv11：向 NMS-Free 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v10 去掉 NMS，v11 反而保留 NMS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3949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YOLOv10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38528"/>
            <a:ext cx="539496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SCDown 空间通道解耦下采样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1×1 卷积 + 3×3、步长 2 的 dw 卷积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C2fCIB 跨阶段分瓶颈块升级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C2f 内部的瓶颈块替换为深度可分离卷积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PSA 部分自注意力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SPPF 之后通道分组，一组过 MHSA + FFN，一组直接通过，最后特征拼接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双头设计 + 一致双分配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一对一头 + 一对多头；训练时双头联合优化，推理只使用一对一头 → NMS-Free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53949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YOLOv11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38528"/>
            <a:ext cx="539496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C3k2 取代 C2f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可变卷积核大小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C2PSA：增强的空间注意力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检测头使用 DW 卷积</a:t>
            </a:r>
          </a:p>
          <a:p>
            <a:pPr lvl="1">
              <a:lnSpc>
                <a:spcPct val="116000"/>
              </a:lnSpc>
              <a:spcAft>
                <a:spcPts val="300"/>
              </a:spcAft>
            </a:pPr>
            <a:r>
              <a:rPr sz="11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后处理保留 NMS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4617720"/>
            <a:ext cx="539496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注意：v10 的卖点是推理无需 NMS，而 v11 又保留了 NMS ——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说明 NMS-Free 并非在所有场景都更优，仍是精度与延迟的权衡。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RT-DETR：实时 Vision Transformer 检测器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端到端出框，不依赖 NMS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1064240" cy="3108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高效混合编码器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只针对高层特征做自注意力机制（AIFI），避免在全分辨率特征图上做全局注意力。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CCFM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IOU 感知选择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用「分类得分 × IOU 得分」来初始化查询。</a:t>
            </a:r>
          </a:p>
          <a:p>
            <a:pPr>
              <a:lnSpc>
                <a:spcPct val="116000"/>
              </a:lnSpc>
              <a:spcAft>
                <a:spcPts val="600"/>
              </a:spcAft>
            </a:pPr>
            <a:r>
              <a:rPr sz="14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可裁剪解码器</a:t>
            </a:r>
          </a:p>
          <a:p>
            <a:pPr lvl="1">
              <a:lnSpc>
                <a:spcPct val="116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解码器层数与每层的辅助预测头都可以裁剪，用来在精度与速度之间取平衡。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4840"/>
            <a:ext cx="1106424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与 Faster R-CNN / YOLO 的根本区别：不再需要「先产生候选框再筛选」，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而是用一组可学习的查询直接与特征交互、一次性输出检测结果 —— 这正是它能端到端、免 NMS 的原因。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核心组件之一：正负样本匹配策略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从固定的 Max-IoU 分配演进到动态匹配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5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4095"/>
                <a:gridCol w="6267156"/>
                <a:gridCol w="2848707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分配依据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解决的问题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Max-IoU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 GT 的最高 IoU 锚框强制为正样本；
与所有 GT 的 IoU 都小于阈值的为负样本；
其余忽略、不参与损失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简单稳定，但正样本太少、
阈值难调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SimOTA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计算代价矩阵（分类损失与回归损失加权），
为每组 GT 分配总代价最低的预测框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动态分配，按代价选正样本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Task-Aligned
Assigner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计算任务对齐度（分类得分^a × 定位质量^b），
对每个 GT 选对齐度最高的 k 个作为正样本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让分类与定位的偏好
保持一致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257800"/>
            <a:ext cx="110642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演进逻辑：固定阈值 → 按代价动态选 → 按「分类与定位的一致性」选。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E75B6"/>
                </a:solidFill>
                <a:latin typeface="微软雅黑"/>
                <a:ea typeface="微软雅黑"/>
                <a:cs typeface="微软雅黑"/>
              </a:rPr>
              <a:t>匹配策略决定了「哪些预测框被当作正样本」，直接影响单阶段检测器的收敛与精度。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核心组件之二：边界框损失函数族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从 Smooth L1 到 IoU 损失家族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72768"/>
          <a:ext cx="11201400" cy="3886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865"/>
                <a:gridCol w="6534150"/>
                <a:gridCol w="3080385"/>
              </a:tblGrid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公式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目的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Smooth L1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优化坐标数值差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IoU loss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优化框重叠度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GIoU loss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提供无重叠时的梯度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DIoU loss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最小化中心距离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CIoU loss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加入长宽比一致性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WIoU loss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抑制极好 / 极坏样本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mooth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48" y="2197359"/>
            <a:ext cx="6424422" cy="416331"/>
          </a:xfrm>
          <a:prstGeom prst="rect">
            <a:avLst/>
          </a:prstGeom>
        </p:spPr>
      </p:pic>
      <p:pic>
        <p:nvPicPr>
          <p:cNvPr id="8" name="Picture 7" descr="i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025" y="2737974"/>
            <a:ext cx="1605668" cy="445443"/>
          </a:xfrm>
          <a:prstGeom prst="rect">
            <a:avLst/>
          </a:prstGeom>
        </p:spPr>
      </p:pic>
      <p:pic>
        <p:nvPicPr>
          <p:cNvPr id="9" name="Picture 8" descr="gio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177" y="3293146"/>
            <a:ext cx="2727364" cy="445443"/>
          </a:xfrm>
          <a:prstGeom prst="rect">
            <a:avLst/>
          </a:prstGeom>
        </p:spPr>
      </p:pic>
      <p:pic>
        <p:nvPicPr>
          <p:cNvPr id="10" name="Picture 9" descr="dio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4973" y="3848317"/>
            <a:ext cx="2123772" cy="445443"/>
          </a:xfrm>
          <a:prstGeom prst="rect">
            <a:avLst/>
          </a:prstGeom>
        </p:spPr>
      </p:pic>
      <p:pic>
        <p:nvPicPr>
          <p:cNvPr id="11" name="Picture 10" descr="cio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1055" y="4403489"/>
            <a:ext cx="2051609" cy="445443"/>
          </a:xfrm>
          <a:prstGeom prst="rect">
            <a:avLst/>
          </a:prstGeom>
        </p:spPr>
      </p:pic>
      <p:pic>
        <p:nvPicPr>
          <p:cNvPr id="12" name="Picture 11" descr="wio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6908" y="4958660"/>
            <a:ext cx="3919902" cy="44544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55778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补充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577840"/>
            <a:ext cx="40233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WIoU 的离群度加权项 R：</a:t>
            </a:r>
          </a:p>
        </p:txBody>
      </p:sp>
      <p:pic>
        <p:nvPicPr>
          <p:cNvPr id="15" name="Picture 14" descr="wiou_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5532120"/>
            <a:ext cx="2834640" cy="4830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83879" y="5532120"/>
            <a:ext cx="352044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R 越大表示该框越「离群」，从而降低其梯度权重；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正是它实现了「抑制极好 / 极坏样本」。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核心组件之三：后处理机制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NMS / Soft-NMS / 端到端无 NMS 的瓶颈对比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4204"/>
                <a:gridCol w="2533850"/>
                <a:gridCol w="2533850"/>
                <a:gridCol w="4288054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NMS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Soft-NMS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端到端无 NMS</a:t>
                      </a:r>
                    </a:p>
                  </a:txBody>
                  <a:tcPr anchor="ctr" marL="73152" marR="54864" marT="18288" marB="18288">
                    <a:solidFill>
                      <a:srgbClr val="1F3864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瓶颈位置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后处理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后处理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模型内部</a:t>
                      </a:r>
                    </a:p>
                  </a:txBody>
                  <a:tcPr anchor="ctr" marL="73152" marR="54864" marT="18288" marB="18288">
                    <a:solidFill>
                      <a:srgbClr val="F2F6F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复杂度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O(N²)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O(N²)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编码器注意力 / 训练一致性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97763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补充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959352"/>
            <a:ext cx="7315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Soft-NMS 的降分方式：不直接删除重叠框，而是按 IoU 指数衰减其得分</a:t>
            </a:r>
          </a:p>
        </p:txBody>
      </p:sp>
      <p:pic>
        <p:nvPicPr>
          <p:cNvPr id="9" name="Picture 8" descr="softn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4434840"/>
            <a:ext cx="2377440" cy="5249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7639" y="4389120"/>
            <a:ext cx="7635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传统 NMS 直接把这些框的得分置零（硬删除），重叠目标会被误删；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Soft-NMS 只降分、不删除，缓解了密集场景下的漏检，但仍是 O(N²) 且需调 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训练技巧：数据增强 + EMA + 余弦退火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saic示意图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956" y="1595628"/>
            <a:ext cx="2105526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39" y="3310128"/>
            <a:ext cx="35661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Mosaic：多张图随机缩放、裁剪后拼成大图</a:t>
            </a:r>
          </a:p>
        </p:txBody>
      </p:sp>
      <p:pic>
        <p:nvPicPr>
          <p:cNvPr id="7" name="Picture 6" descr="mixup示意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548" y="1835925"/>
            <a:ext cx="3429000" cy="11196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15968" y="3310128"/>
            <a:ext cx="35661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MixUp：两张图按比例线性混合，标签也混合</a:t>
            </a:r>
          </a:p>
        </p:txBody>
      </p:sp>
      <p:pic>
        <p:nvPicPr>
          <p:cNvPr id="9" name="Picture 8" descr="Copy-Paste示意图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1607027"/>
            <a:ext cx="3429000" cy="15774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2440" y="3310128"/>
            <a:ext cx="356616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Copy-Paste：复制目标实例，贴到另一张图随机位置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41648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160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  <a:cs typeface="微软雅黑"/>
              </a:rPr>
              <a:t>补充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407408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EMA：维护模型参数的滑动平均样本，仅参与推理 / 验证</a:t>
            </a:r>
          </a:p>
        </p:txBody>
      </p:sp>
      <p:pic>
        <p:nvPicPr>
          <p:cNvPr id="14" name="Picture 13" descr="em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64608"/>
            <a:ext cx="2743200" cy="300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72200" y="4160520"/>
            <a:ext cx="512064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余弦退火学习率调度</a:t>
            </a:r>
          </a:p>
        </p:txBody>
      </p:sp>
      <p:pic>
        <p:nvPicPr>
          <p:cNvPr id="16" name="Picture 15" descr="cos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892040"/>
            <a:ext cx="5120640" cy="5945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3640" y="5440680"/>
            <a:ext cx="5394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η_t 随训练进度按余弦曲线从 η_max 衰减到 η_min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2471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重构收尾 + 本周调研的主线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16736"/>
            <a:ext cx="11201400" cy="18288"/>
          </a:xfrm>
          <a:prstGeom prst="rect">
            <a:avLst/>
          </a:prstGeom>
          <a:solidFill>
            <a:srgbClr val="DE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上周重构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单体 trainer 拆成 5 个独立模块 + 四层，配 10 个黄金测试；重复逻辑各收敛为 1 份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做法：AI 提修改意见 → 我手写代码 → AI 写测试验收，验收标准先于代码存在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遗留：class trainer 命名、模块级 docstring、「每行注释」仍未补齐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本周调研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三条主线：多阶段（Faster R-CNN）→ 单阶段（YOLOv5 / v8）→ 端到端（YOLOv10 / RT-DETR）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核心组件三件套：样本匹配（Max-IoU → SimOTA → Task-Aligned）、边界框损失（Smooth L1 → IoU 族）、后处理（NMS → Soft-NMS → 端到端）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训练技巧：Mosaic / MixUp / Copy-Paste 增强、EMA、余弦退火</a:t>
            </a:r>
          </a:p>
          <a:p>
            <a:pPr>
              <a:lnSpc>
                <a:spcPct val="116000"/>
              </a:lnSpc>
              <a:spcAft>
                <a:spcPts val="700"/>
              </a:spcAft>
            </a:pPr>
            <a:r>
              <a:rPr sz="1500" b="1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  <a:p>
            <a:pPr lvl="1">
              <a:lnSpc>
                <a:spcPct val="116000"/>
              </a:lnSpc>
              <a:spcAft>
                <a:spcPts val="700"/>
              </a:spcAft>
            </a:pPr>
            <a:r>
              <a:rPr sz="13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本次汇报只覆盖调研部分；检测实验（VOC 子集、YOLOv5-S vs YOLOv8-S、Mosaic 消融）待补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